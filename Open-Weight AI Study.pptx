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Roboto Bold" charset="1" panose="02000000000000000000"/>
      <p:regular r:id="rId12"/>
    </p:embeddedFont>
    <p:embeddedFont>
      <p:font typeface="Roboto" charset="1" panose="02000000000000000000"/>
      <p:regular r:id="rId13"/>
    </p:embeddedFont>
    <p:embeddedFont>
      <p:font typeface="DM Sans Bold Italics" charset="1" panose="00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png" Type="http://schemas.openxmlformats.org/officeDocument/2006/relationships/image"/><Relationship Id="rId12" Target="../media/image19.png" Type="http://schemas.openxmlformats.org/officeDocument/2006/relationships/image"/><Relationship Id="rId13" Target="../media/image20.png" Type="http://schemas.openxmlformats.org/officeDocument/2006/relationships/image"/><Relationship Id="rId14" Target="../media/image21.png" Type="http://schemas.openxmlformats.org/officeDocument/2006/relationships/image"/><Relationship Id="rId15" Target="../media/image22.png" Type="http://schemas.openxmlformats.org/officeDocument/2006/relationships/image"/><Relationship Id="rId16" Target="../media/image23.png" Type="http://schemas.openxmlformats.org/officeDocument/2006/relationships/image"/><Relationship Id="rId17" Target="../media/image24.png" Type="http://schemas.openxmlformats.org/officeDocument/2006/relationships/image"/><Relationship Id="rId18" Target="../media/image25.png" Type="http://schemas.openxmlformats.org/officeDocument/2006/relationships/image"/><Relationship Id="rId19" Target="../media/image26.png" Type="http://schemas.openxmlformats.org/officeDocument/2006/relationships/image"/><Relationship Id="rId2" Target="../media/image9.png" Type="http://schemas.openxmlformats.org/officeDocument/2006/relationships/image"/><Relationship Id="rId20" Target="../media/image27.png" Type="http://schemas.openxmlformats.org/officeDocument/2006/relationships/image"/><Relationship Id="rId21" Target="../media/image28.png" Type="http://schemas.openxmlformats.org/officeDocument/2006/relationships/image"/><Relationship Id="rId22" Target="../media/image29.png" Type="http://schemas.openxmlformats.org/officeDocument/2006/relationships/image"/><Relationship Id="rId23" Target="../media/image30.png" Type="http://schemas.openxmlformats.org/officeDocument/2006/relationships/image"/><Relationship Id="rId24" Target="../media/image31.png" Type="http://schemas.openxmlformats.org/officeDocument/2006/relationships/image"/><Relationship Id="rId25" Target="../media/image32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png" Type="http://schemas.openxmlformats.org/officeDocument/2006/relationships/image"/><Relationship Id="rId12" Target="../media/image43.png" Type="http://schemas.openxmlformats.org/officeDocument/2006/relationships/image"/><Relationship Id="rId13" Target="../media/image44.png" Type="http://schemas.openxmlformats.org/officeDocument/2006/relationships/image"/><Relationship Id="rId14" Target="../media/image45.png" Type="http://schemas.openxmlformats.org/officeDocument/2006/relationships/image"/><Relationship Id="rId15" Target="../media/image46.png" Type="http://schemas.openxmlformats.org/officeDocument/2006/relationships/image"/><Relationship Id="rId16" Target="../media/image47.png" Type="http://schemas.openxmlformats.org/officeDocument/2006/relationships/image"/><Relationship Id="rId2" Target="../media/image33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../media/image39.pn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49.png" Type="http://schemas.openxmlformats.org/officeDocument/2006/relationships/image"/><Relationship Id="rId4" Target="../media/image50.png" Type="http://schemas.openxmlformats.org/officeDocument/2006/relationships/image"/><Relationship Id="rId5" Target="../media/image51.png" Type="http://schemas.openxmlformats.org/officeDocument/2006/relationships/image"/><Relationship Id="rId6" Target="../media/image52.png" Type="http://schemas.openxmlformats.org/officeDocument/2006/relationships/image"/><Relationship Id="rId7" Target="../media/image53.png" Type="http://schemas.openxmlformats.org/officeDocument/2006/relationships/image"/><Relationship Id="rId8" Target="../media/image54.pn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58.png" Type="http://schemas.openxmlformats.org/officeDocument/2006/relationships/image"/><Relationship Id="rId5" Target="../media/image59.png" Type="http://schemas.openxmlformats.org/officeDocument/2006/relationships/image"/><Relationship Id="rId6" Target="../media/image60.png" Type="http://schemas.openxmlformats.org/officeDocument/2006/relationships/image"/><Relationship Id="rId7" Target="../media/image6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70574" y="2142670"/>
            <a:ext cx="8072096" cy="7510275"/>
          </a:xfrm>
          <a:custGeom>
            <a:avLst/>
            <a:gdLst/>
            <a:ahLst/>
            <a:cxnLst/>
            <a:rect r="r" b="b" t="t" l="l"/>
            <a:pathLst>
              <a:path h="7510275" w="8072096">
                <a:moveTo>
                  <a:pt x="0" y="0"/>
                </a:moveTo>
                <a:lnTo>
                  <a:pt x="8072096" y="0"/>
                </a:lnTo>
                <a:lnTo>
                  <a:pt x="8072096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04702" y="1059000"/>
            <a:ext cx="7218057" cy="3763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24"/>
              </a:lnSpc>
            </a:pPr>
            <a:r>
              <a:rPr lang="en-US" sz="9636" spc="-385" b="true">
                <a:solidFill>
                  <a:srgbClr val="FAFAFA"/>
                </a:solidFill>
                <a:latin typeface="Roboto Bold"/>
                <a:ea typeface="Roboto Bold"/>
                <a:cs typeface="Roboto Bold"/>
                <a:sym typeface="Roboto Bold"/>
              </a:rPr>
              <a:t>Evaluating Open-Weight </a:t>
            </a:r>
            <a:r>
              <a:rPr lang="en-US" sz="9636" spc="-385" b="true">
                <a:solidFill>
                  <a:srgbClr val="1099F8"/>
                </a:solidFill>
                <a:latin typeface="Roboto Bold"/>
                <a:ea typeface="Roboto Bold"/>
                <a:cs typeface="Roboto Bold"/>
                <a:sym typeface="Roboto Bold"/>
              </a:rPr>
              <a:t>AI Models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4919394"/>
            <a:ext cx="3062584" cy="229572"/>
          </a:xfrm>
          <a:custGeom>
            <a:avLst/>
            <a:gdLst/>
            <a:ahLst/>
            <a:cxnLst/>
            <a:rect r="r" b="b" t="t" l="l"/>
            <a:pathLst>
              <a:path h="229572" w="3062584">
                <a:moveTo>
                  <a:pt x="0" y="0"/>
                </a:moveTo>
                <a:lnTo>
                  <a:pt x="3062584" y="0"/>
                </a:lnTo>
                <a:lnTo>
                  <a:pt x="306258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40275" y="5535597"/>
            <a:ext cx="3660773" cy="455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032" spc="-121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A Comparative Study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2911" y="6459844"/>
            <a:ext cx="5397227" cy="94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sz="3102" spc="-124" b="true">
                <a:solidFill>
                  <a:srgbClr val="974CE8"/>
                </a:solidFill>
                <a:latin typeface="Roboto Bold"/>
                <a:ea typeface="Roboto Bold"/>
                <a:cs typeface="Roboto Bold"/>
                <a:sym typeface="Roboto Bold"/>
              </a:rPr>
              <a:t>Hacktoberfest 2026 Hack Day</a:t>
            </a:r>
          </a:p>
          <a:p>
            <a:pPr algn="l">
              <a:lnSpc>
                <a:spcPts val="3723"/>
              </a:lnSpc>
            </a:pPr>
            <a:r>
              <a:rPr lang="en-US" sz="3102" spc="-124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SSIT, Tumakuru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0326" y="7586503"/>
            <a:ext cx="6655687" cy="893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5"/>
              </a:lnSpc>
            </a:pPr>
            <a:r>
              <a:rPr lang="en-US" sz="2575" spc="-103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Comparing </a:t>
            </a:r>
            <a:r>
              <a:rPr lang="en-US" sz="2575" spc="-103">
                <a:solidFill>
                  <a:srgbClr val="974CE8"/>
                </a:solidFill>
                <a:latin typeface="Roboto"/>
                <a:ea typeface="Roboto"/>
                <a:cs typeface="Roboto"/>
                <a:sym typeface="Roboto"/>
              </a:rPr>
              <a:t>correctness</a:t>
            </a:r>
            <a:r>
              <a:rPr lang="en-US" sz="2575" spc="-103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, instruction following, </a:t>
            </a:r>
            <a:r>
              <a:rPr lang="en-US" sz="2575" spc="-103">
                <a:solidFill>
                  <a:srgbClr val="5170E1"/>
                </a:solidFill>
                <a:latin typeface="Roboto"/>
                <a:ea typeface="Roboto"/>
                <a:cs typeface="Roboto"/>
                <a:sym typeface="Roboto"/>
              </a:rPr>
              <a:t>clarity</a:t>
            </a:r>
            <a:r>
              <a:rPr lang="en-US" sz="2575" spc="-103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-US" sz="2575" spc="-103">
                <a:solidFill>
                  <a:srgbClr val="0CC0DF"/>
                </a:solidFill>
                <a:latin typeface="Roboto"/>
                <a:ea typeface="Roboto"/>
                <a:cs typeface="Roboto"/>
                <a:sym typeface="Roboto"/>
              </a:rPr>
              <a:t>honesty</a:t>
            </a:r>
            <a:r>
              <a:rPr lang="en-US" sz="2575" spc="-103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 across leading models.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1725" y="8921780"/>
            <a:ext cx="6515830" cy="4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9"/>
              </a:lnSpc>
            </a:pPr>
            <a:r>
              <a:rPr lang="en-US" sz="2707" spc="-108" b="true">
                <a:solidFill>
                  <a:srgbClr val="1099F8"/>
                </a:solidFill>
                <a:latin typeface="Roboto Bold"/>
                <a:ea typeface="Roboto Bold"/>
                <a:cs typeface="Roboto Bold"/>
                <a:sym typeface="Roboto Bold"/>
              </a:rPr>
              <a:t>Team:</a:t>
            </a:r>
            <a:r>
              <a:rPr lang="en-US" sz="2707" spc="-108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 Syed Arfaz  </a:t>
            </a:r>
            <a:r>
              <a:rPr lang="en-US" sz="2707" spc="-108">
                <a:solidFill>
                  <a:srgbClr val="974CE8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lang="en-US" sz="2707" spc="-108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  Prajwal B  </a:t>
            </a:r>
            <a:r>
              <a:rPr lang="en-US" sz="2707" spc="-108">
                <a:solidFill>
                  <a:srgbClr val="974CE8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lang="en-US" sz="2707" spc="-108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  Pavan BS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9144000" cy="10287000"/>
          </a:xfrm>
          <a:custGeom>
            <a:avLst/>
            <a:gdLst/>
            <a:ahLst/>
            <a:cxnLst/>
            <a:rect r="r" b="b" t="t" l="l"/>
            <a:pathLst>
              <a:path h="10287000" w="9144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69252" y="999265"/>
            <a:ext cx="8799782" cy="1113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80"/>
              </a:lnSpc>
            </a:pPr>
            <a:r>
              <a:rPr lang="en-US" sz="8380" spc="-335" b="true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Problem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0513" y="2174011"/>
            <a:ext cx="673665" cy="1113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80"/>
              </a:lnSpc>
            </a:pPr>
            <a:r>
              <a:rPr lang="en-US" sz="8380" spc="-335" b="true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&amp;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06205" y="2174011"/>
            <a:ext cx="4223996" cy="1113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80"/>
              </a:lnSpc>
            </a:pPr>
            <a:r>
              <a:rPr lang="en-US" sz="8380" spc="-335" b="true">
                <a:solidFill>
                  <a:srgbClr val="10B1FF"/>
                </a:solidFill>
                <a:latin typeface="Roboto Bold"/>
                <a:ea typeface="Roboto Bold"/>
                <a:cs typeface="Roboto Bold"/>
                <a:sym typeface="Roboto Bold"/>
              </a:rPr>
              <a:t>Objective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64086" y="3421712"/>
            <a:ext cx="2406316" cy="437279"/>
          </a:xfrm>
          <a:custGeom>
            <a:avLst/>
            <a:gdLst/>
            <a:ahLst/>
            <a:cxnLst/>
            <a:rect r="r" b="b" t="t" l="l"/>
            <a:pathLst>
              <a:path h="437279" w="2406316">
                <a:moveTo>
                  <a:pt x="0" y="0"/>
                </a:moveTo>
                <a:lnTo>
                  <a:pt x="2406316" y="0"/>
                </a:lnTo>
                <a:lnTo>
                  <a:pt x="240631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28050" y="4215297"/>
            <a:ext cx="5598876" cy="576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0"/>
              </a:lnSpc>
            </a:pPr>
            <a:r>
              <a:rPr lang="en-US" sz="3032" spc="-60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Same prompt, </a:t>
            </a:r>
            <a:r>
              <a:rPr lang="en-US" sz="3032" spc="-60" b="true">
                <a:solidFill>
                  <a:srgbClr val="974CDD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different answers.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5945" y="4837342"/>
            <a:ext cx="6809386" cy="449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0"/>
              </a:lnSpc>
            </a:pPr>
            <a:r>
              <a:rPr lang="en-US" sz="2351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Open-weight models can respond in diverse ways.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64086" y="5564382"/>
            <a:ext cx="7634584" cy="229572"/>
          </a:xfrm>
          <a:custGeom>
            <a:avLst/>
            <a:gdLst/>
            <a:ahLst/>
            <a:cxnLst/>
            <a:rect r="r" b="b" t="t" l="l"/>
            <a:pathLst>
              <a:path h="229572" w="7634584">
                <a:moveTo>
                  <a:pt x="0" y="0"/>
                </a:moveTo>
                <a:lnTo>
                  <a:pt x="7634584" y="0"/>
                </a:lnTo>
                <a:lnTo>
                  <a:pt x="763458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35527" y="5947293"/>
            <a:ext cx="4851244" cy="576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0"/>
              </a:lnSpc>
            </a:pPr>
            <a:r>
              <a:rPr lang="en-US" sz="3032" spc="-60" b="true">
                <a:solidFill>
                  <a:srgbClr val="974CDD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Fluent</a:t>
            </a:r>
            <a:r>
              <a:rPr lang="en-US" sz="3032" spc="-60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 doesn’t mean correct.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0693" y="6584400"/>
            <a:ext cx="6334570" cy="449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0"/>
              </a:lnSpc>
            </a:pPr>
            <a:r>
              <a:rPr lang="en-US" sz="2351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Well-written responses may still be inaccurate.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64086" y="7280704"/>
            <a:ext cx="7634584" cy="229572"/>
          </a:xfrm>
          <a:custGeom>
            <a:avLst/>
            <a:gdLst/>
            <a:ahLst/>
            <a:cxnLst/>
            <a:rect r="r" b="b" t="t" l="l"/>
            <a:pathLst>
              <a:path h="229572" w="7634584">
                <a:moveTo>
                  <a:pt x="0" y="0"/>
                </a:moveTo>
                <a:lnTo>
                  <a:pt x="7634584" y="0"/>
                </a:lnTo>
                <a:lnTo>
                  <a:pt x="763458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08468" y="7694351"/>
            <a:ext cx="7557130" cy="576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0"/>
              </a:lnSpc>
            </a:pPr>
            <a:r>
              <a:rPr lang="en-US" sz="3032" spc="-60" b="true">
                <a:solidFill>
                  <a:srgbClr val="10B1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Our objective: </a:t>
            </a:r>
            <a:r>
              <a:rPr lang="en-US" sz="3032" spc="-60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fair and consistent evaluation.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8576" y="8316397"/>
            <a:ext cx="5546315" cy="913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0"/>
              </a:lnSpc>
            </a:pPr>
            <a:r>
              <a:rPr lang="en-US" sz="2351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Compare four open-weight models using the same prompts and a clear rubric.</a:t>
            </a:r>
          </a:p>
        </p:txBody>
      </p:sp>
      <p:sp>
        <p:nvSpPr>
          <p:cNvPr name="TextBox 16" id="16"/>
          <p:cNvSpPr txBox="true"/>
          <p:nvPr/>
        </p:nvSpPr>
        <p:spPr>
          <a:xfrm rot="986132">
            <a:off x="13181601" y="3754941"/>
            <a:ext cx="2430760" cy="1540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4"/>
              </a:lnSpc>
            </a:pPr>
            <a:r>
              <a:rPr lang="en-US" b="true" sz="3234" i="true" spc="64">
                <a:solidFill>
                  <a:srgbClr val="FFFFFF">
                    <a:alpha val="84706"/>
                  </a:srgbClr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 ACCURATE RELIABLE VERIFIABLE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3213" y="757720"/>
            <a:ext cx="11366985" cy="1113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80"/>
              </a:lnSpc>
            </a:pPr>
            <a:r>
              <a:rPr lang="en-US" sz="8380" spc="-249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Models &amp; Methodology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1924030"/>
            <a:ext cx="2187560" cy="229572"/>
          </a:xfrm>
          <a:custGeom>
            <a:avLst/>
            <a:gdLst/>
            <a:ahLst/>
            <a:cxnLst/>
            <a:rect r="r" b="b" t="t" l="l"/>
            <a:pathLst>
              <a:path h="229572" w="2187560">
                <a:moveTo>
                  <a:pt x="0" y="0"/>
                </a:moveTo>
                <a:lnTo>
                  <a:pt x="2187560" y="0"/>
                </a:lnTo>
                <a:lnTo>
                  <a:pt x="218756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16164" y="2421059"/>
            <a:ext cx="1429686" cy="34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b="true" sz="2623" spc="-78">
                <a:solidFill>
                  <a:srgbClr val="9245E1"/>
                </a:solidFill>
                <a:latin typeface="Roboto Bold"/>
                <a:ea typeface="Roboto Bold"/>
                <a:cs typeface="Roboto Bold"/>
                <a:sym typeface="Roboto Bold"/>
              </a:rPr>
              <a:t>MODELS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2995365"/>
            <a:ext cx="4582938" cy="1508614"/>
          </a:xfrm>
          <a:custGeom>
            <a:avLst/>
            <a:gdLst/>
            <a:ahLst/>
            <a:cxnLst/>
            <a:rect r="r" b="b" t="t" l="l"/>
            <a:pathLst>
              <a:path h="1508614" w="4582938">
                <a:moveTo>
                  <a:pt x="0" y="0"/>
                </a:moveTo>
                <a:lnTo>
                  <a:pt x="4582938" y="0"/>
                </a:lnTo>
                <a:lnTo>
                  <a:pt x="458293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79302" y="3544061"/>
            <a:ext cx="2620561" cy="425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b="true" sz="3168" spc="-94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GPT-OSS-20B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998574" y="2995365"/>
            <a:ext cx="3937608" cy="1508614"/>
          </a:xfrm>
          <a:custGeom>
            <a:avLst/>
            <a:gdLst/>
            <a:ahLst/>
            <a:cxnLst/>
            <a:rect r="r" b="b" t="t" l="l"/>
            <a:pathLst>
              <a:path h="1508614" w="3937608">
                <a:moveTo>
                  <a:pt x="0" y="0"/>
                </a:moveTo>
                <a:lnTo>
                  <a:pt x="3937608" y="0"/>
                </a:lnTo>
                <a:lnTo>
                  <a:pt x="393760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455406" y="3351010"/>
            <a:ext cx="956267" cy="28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2047" spc="-60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Platform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38114" y="3821717"/>
            <a:ext cx="2685506" cy="34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623" spc="-78" b="true">
                <a:solidFill>
                  <a:srgbClr val="9245E1"/>
                </a:solidFill>
                <a:latin typeface="Roboto Bold"/>
                <a:ea typeface="Roboto Bold"/>
                <a:cs typeface="Roboto Bold"/>
                <a:sym typeface="Roboto Bold"/>
              </a:rPr>
              <a:t>Groq Playground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45330" y="4493047"/>
            <a:ext cx="4582938" cy="1508614"/>
          </a:xfrm>
          <a:custGeom>
            <a:avLst/>
            <a:gdLst/>
            <a:ahLst/>
            <a:cxnLst/>
            <a:rect r="r" b="b" t="t" l="l"/>
            <a:pathLst>
              <a:path h="1508614" w="4582938">
                <a:moveTo>
                  <a:pt x="0" y="0"/>
                </a:moveTo>
                <a:lnTo>
                  <a:pt x="4582938" y="0"/>
                </a:lnTo>
                <a:lnTo>
                  <a:pt x="458293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77143" y="5095327"/>
            <a:ext cx="2836442" cy="425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b="true" sz="3168" spc="-94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GPT-OSS-120B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4998574" y="4493047"/>
            <a:ext cx="3937608" cy="1508614"/>
          </a:xfrm>
          <a:custGeom>
            <a:avLst/>
            <a:gdLst/>
            <a:ahLst/>
            <a:cxnLst/>
            <a:rect r="r" b="b" t="t" l="l"/>
            <a:pathLst>
              <a:path h="1508614" w="3937608">
                <a:moveTo>
                  <a:pt x="0" y="0"/>
                </a:moveTo>
                <a:lnTo>
                  <a:pt x="3937608" y="0"/>
                </a:lnTo>
                <a:lnTo>
                  <a:pt x="393760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455406" y="4872155"/>
            <a:ext cx="956267" cy="28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2047" spc="-60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Platform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38114" y="5342862"/>
            <a:ext cx="2685506" cy="34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623" spc="-78" b="true">
                <a:solidFill>
                  <a:srgbClr val="9245E1"/>
                </a:solidFill>
                <a:latin typeface="Roboto Bold"/>
                <a:ea typeface="Roboto Bold"/>
                <a:cs typeface="Roboto Bold"/>
                <a:sym typeface="Roboto Bold"/>
              </a:rPr>
              <a:t>Groq Playground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45330" y="5990729"/>
            <a:ext cx="4582938" cy="1727254"/>
          </a:xfrm>
          <a:custGeom>
            <a:avLst/>
            <a:gdLst/>
            <a:ahLst/>
            <a:cxnLst/>
            <a:rect r="r" b="b" t="t" l="l"/>
            <a:pathLst>
              <a:path h="1727254" w="4582938">
                <a:moveTo>
                  <a:pt x="0" y="0"/>
                </a:moveTo>
                <a:lnTo>
                  <a:pt x="4582938" y="0"/>
                </a:lnTo>
                <a:lnTo>
                  <a:pt x="458293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76074" y="6662792"/>
            <a:ext cx="2943408" cy="38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2896" spc="-86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Gemma-4-31B-IT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4998574" y="5990729"/>
            <a:ext cx="3937608" cy="1727254"/>
          </a:xfrm>
          <a:custGeom>
            <a:avLst/>
            <a:gdLst/>
            <a:ahLst/>
            <a:cxnLst/>
            <a:rect r="r" b="b" t="t" l="l"/>
            <a:pathLst>
              <a:path h="1727254" w="3937608">
                <a:moveTo>
                  <a:pt x="0" y="0"/>
                </a:moveTo>
                <a:lnTo>
                  <a:pt x="3937608" y="0"/>
                </a:lnTo>
                <a:lnTo>
                  <a:pt x="393760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455406" y="6423421"/>
            <a:ext cx="956267" cy="28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2047" spc="-60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Platform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438321" y="6879068"/>
            <a:ext cx="2664811" cy="34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623" spc="-78" b="true">
                <a:solidFill>
                  <a:srgbClr val="00A4F1"/>
                </a:solidFill>
                <a:latin typeface="Roboto Bold"/>
                <a:ea typeface="Roboto Bold"/>
                <a:cs typeface="Roboto Bold"/>
                <a:sym typeface="Roboto Bold"/>
              </a:rPr>
              <a:t>Google AI Studio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45330" y="7499343"/>
            <a:ext cx="4582938" cy="1716322"/>
          </a:xfrm>
          <a:custGeom>
            <a:avLst/>
            <a:gdLst/>
            <a:ahLst/>
            <a:cxnLst/>
            <a:rect r="r" b="b" t="t" l="l"/>
            <a:pathLst>
              <a:path h="1716322" w="4582938">
                <a:moveTo>
                  <a:pt x="0" y="0"/>
                </a:moveTo>
                <a:lnTo>
                  <a:pt x="4582938" y="0"/>
                </a:lnTo>
                <a:lnTo>
                  <a:pt x="4582938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169266" y="8204478"/>
            <a:ext cx="3624223" cy="37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 spc="-82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Gemma-4-26B-A4B-IT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4998574" y="7499343"/>
            <a:ext cx="3937608" cy="1716322"/>
          </a:xfrm>
          <a:custGeom>
            <a:avLst/>
            <a:gdLst/>
            <a:ahLst/>
            <a:cxnLst/>
            <a:rect r="r" b="b" t="t" l="l"/>
            <a:pathLst>
              <a:path h="1716322" w="3937608">
                <a:moveTo>
                  <a:pt x="0" y="0"/>
                </a:moveTo>
                <a:lnTo>
                  <a:pt x="3937608" y="0"/>
                </a:lnTo>
                <a:lnTo>
                  <a:pt x="3937608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455406" y="7974688"/>
            <a:ext cx="956267" cy="28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2047" spc="-60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Platform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438321" y="8460456"/>
            <a:ext cx="2664811" cy="34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623" spc="-78" b="true">
                <a:solidFill>
                  <a:srgbClr val="00A4F1"/>
                </a:solidFill>
                <a:latin typeface="Roboto Bold"/>
                <a:ea typeface="Roboto Bold"/>
                <a:cs typeface="Roboto Bold"/>
                <a:sym typeface="Roboto Bold"/>
              </a:rPr>
              <a:t>Google AI Studio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9789330" y="2776725"/>
            <a:ext cx="7634584" cy="1300906"/>
          </a:xfrm>
          <a:custGeom>
            <a:avLst/>
            <a:gdLst/>
            <a:ahLst/>
            <a:cxnLst/>
            <a:rect r="r" b="b" t="t" l="l"/>
            <a:pathLst>
              <a:path h="1300906" w="7634584">
                <a:moveTo>
                  <a:pt x="0" y="0"/>
                </a:moveTo>
                <a:lnTo>
                  <a:pt x="7634584" y="0"/>
                </a:lnTo>
                <a:lnTo>
                  <a:pt x="763458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789330" y="2776725"/>
            <a:ext cx="1542230" cy="1300906"/>
          </a:xfrm>
          <a:custGeom>
            <a:avLst/>
            <a:gdLst/>
            <a:ahLst/>
            <a:cxnLst/>
            <a:rect r="r" b="b" t="t" l="l"/>
            <a:pathLst>
              <a:path h="1300906" w="1542230">
                <a:moveTo>
                  <a:pt x="0" y="0"/>
                </a:moveTo>
                <a:lnTo>
                  <a:pt x="1542230" y="0"/>
                </a:lnTo>
                <a:lnTo>
                  <a:pt x="154223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0413917" y="3157410"/>
            <a:ext cx="523050" cy="49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b="true" sz="3755" spc="-111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43253" y="3258875"/>
            <a:ext cx="4925490" cy="31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spc="-74" b="true">
                <a:solidFill>
                  <a:srgbClr val="00A4F1"/>
                </a:solidFill>
                <a:latin typeface="Roboto Bold"/>
                <a:ea typeface="Roboto Bold"/>
                <a:cs typeface="Roboto Bold"/>
                <a:sym typeface="Roboto Bold"/>
              </a:rPr>
              <a:t>25+ prompts </a:t>
            </a:r>
            <a:r>
              <a:rPr lang="en-US" sz="2487" spc="-7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across five categories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3059732" y="3848060"/>
            <a:ext cx="448450" cy="448211"/>
          </a:xfrm>
          <a:custGeom>
            <a:avLst/>
            <a:gdLst/>
            <a:ahLst/>
            <a:cxnLst/>
            <a:rect r="r" b="b" t="t" l="l"/>
            <a:pathLst>
              <a:path h="448211" w="448450">
                <a:moveTo>
                  <a:pt x="0" y="0"/>
                </a:moveTo>
                <a:lnTo>
                  <a:pt x="448450" y="0"/>
                </a:lnTo>
                <a:lnTo>
                  <a:pt x="44845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9789330" y="4066699"/>
            <a:ext cx="7634584" cy="1300906"/>
          </a:xfrm>
          <a:custGeom>
            <a:avLst/>
            <a:gdLst/>
            <a:ahLst/>
            <a:cxnLst/>
            <a:rect r="r" b="b" t="t" l="l"/>
            <a:pathLst>
              <a:path h="1300906" w="7634584">
                <a:moveTo>
                  <a:pt x="0" y="0"/>
                </a:moveTo>
                <a:lnTo>
                  <a:pt x="7634584" y="0"/>
                </a:lnTo>
                <a:lnTo>
                  <a:pt x="7634584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9789330" y="4066699"/>
            <a:ext cx="1542230" cy="1300906"/>
          </a:xfrm>
          <a:custGeom>
            <a:avLst/>
            <a:gdLst/>
            <a:ahLst/>
            <a:cxnLst/>
            <a:rect r="r" b="b" t="t" l="l"/>
            <a:pathLst>
              <a:path h="1300906" w="1542230">
                <a:moveTo>
                  <a:pt x="0" y="0"/>
                </a:moveTo>
                <a:lnTo>
                  <a:pt x="1542230" y="0"/>
                </a:lnTo>
                <a:lnTo>
                  <a:pt x="1542230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1451735" y="4614351"/>
            <a:ext cx="4077287" cy="31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spc="-74" b="true">
                <a:solidFill>
                  <a:srgbClr val="00A4F1"/>
                </a:solidFill>
                <a:latin typeface="Roboto Bold"/>
                <a:ea typeface="Roboto Bold"/>
                <a:cs typeface="Roboto Bold"/>
                <a:sym typeface="Roboto Bold"/>
              </a:rPr>
              <a:t>Fresh chats </a:t>
            </a:r>
            <a:r>
              <a:rPr lang="en-US" sz="2487" spc="-7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for every prompt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3059732" y="5138034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9789330" y="5564382"/>
            <a:ext cx="7634584" cy="1082267"/>
          </a:xfrm>
          <a:custGeom>
            <a:avLst/>
            <a:gdLst/>
            <a:ahLst/>
            <a:cxnLst/>
            <a:rect r="r" b="b" t="t" l="l"/>
            <a:pathLst>
              <a:path h="1082267" w="7634584">
                <a:moveTo>
                  <a:pt x="0" y="0"/>
                </a:moveTo>
                <a:lnTo>
                  <a:pt x="7634584" y="0"/>
                </a:lnTo>
                <a:lnTo>
                  <a:pt x="763458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9789330" y="5564382"/>
            <a:ext cx="1542230" cy="1082267"/>
          </a:xfrm>
          <a:custGeom>
            <a:avLst/>
            <a:gdLst/>
            <a:ahLst/>
            <a:cxnLst/>
            <a:rect r="r" b="b" t="t" l="l"/>
            <a:pathLst>
              <a:path h="1082267" w="1542230">
                <a:moveTo>
                  <a:pt x="0" y="0"/>
                </a:moveTo>
                <a:lnTo>
                  <a:pt x="1542230" y="0"/>
                </a:lnTo>
                <a:lnTo>
                  <a:pt x="154223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0413671" y="5883422"/>
            <a:ext cx="523541" cy="49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b="true" sz="3755" spc="-111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439843" y="5969826"/>
            <a:ext cx="5266515" cy="31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spc="-74" b="true">
                <a:solidFill>
                  <a:srgbClr val="00A4F1"/>
                </a:solidFill>
                <a:latin typeface="Roboto Bold"/>
                <a:ea typeface="Roboto Bold"/>
                <a:cs typeface="Roboto Bold"/>
                <a:sym typeface="Roboto Bold"/>
              </a:rPr>
              <a:t>Consistent settings </a:t>
            </a:r>
            <a:r>
              <a:rPr lang="en-US" sz="2487" spc="-7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where supported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3059732" y="6428009"/>
            <a:ext cx="448450" cy="644987"/>
          </a:xfrm>
          <a:custGeom>
            <a:avLst/>
            <a:gdLst/>
            <a:ahLst/>
            <a:cxnLst/>
            <a:rect r="r" b="b" t="t" l="l"/>
            <a:pathLst>
              <a:path h="644987" w="448450">
                <a:moveTo>
                  <a:pt x="0" y="0"/>
                </a:moveTo>
                <a:lnTo>
                  <a:pt x="448450" y="0"/>
                </a:lnTo>
                <a:lnTo>
                  <a:pt x="44845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9789330" y="6854356"/>
            <a:ext cx="7634584" cy="1289974"/>
          </a:xfrm>
          <a:custGeom>
            <a:avLst/>
            <a:gdLst/>
            <a:ahLst/>
            <a:cxnLst/>
            <a:rect r="r" b="b" t="t" l="l"/>
            <a:pathLst>
              <a:path h="1289974" w="7634584">
                <a:moveTo>
                  <a:pt x="0" y="0"/>
                </a:moveTo>
                <a:lnTo>
                  <a:pt x="7634584" y="0"/>
                </a:lnTo>
                <a:lnTo>
                  <a:pt x="763458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9789330" y="6854356"/>
            <a:ext cx="1542230" cy="1289974"/>
          </a:xfrm>
          <a:custGeom>
            <a:avLst/>
            <a:gdLst/>
            <a:ahLst/>
            <a:cxnLst/>
            <a:rect r="r" b="b" t="t" l="l"/>
            <a:pathLst>
              <a:path h="1289974" w="1542230">
                <a:moveTo>
                  <a:pt x="0" y="0"/>
                </a:moveTo>
                <a:lnTo>
                  <a:pt x="1542230" y="0"/>
                </a:lnTo>
                <a:lnTo>
                  <a:pt x="154223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0413671" y="7223837"/>
            <a:ext cx="523541" cy="49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b="true" sz="3755" spc="-111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04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438370" y="7325302"/>
            <a:ext cx="5413784" cy="31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spc="-74" b="true">
                <a:solidFill>
                  <a:srgbClr val="00A4F1"/>
                </a:solidFill>
                <a:latin typeface="Roboto Bold"/>
                <a:ea typeface="Roboto Bold"/>
                <a:cs typeface="Roboto Bold"/>
                <a:sym typeface="Roboto Bold"/>
              </a:rPr>
              <a:t>Two reviewers </a:t>
            </a:r>
            <a:r>
              <a:rPr lang="en-US" sz="2487" spc="-7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evaluate independently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13059732" y="7925691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9789330" y="8133399"/>
            <a:ext cx="7634584" cy="1300906"/>
          </a:xfrm>
          <a:custGeom>
            <a:avLst/>
            <a:gdLst/>
            <a:ahLst/>
            <a:cxnLst/>
            <a:rect r="r" b="b" t="t" l="l"/>
            <a:pathLst>
              <a:path h="1300906" w="7634584">
                <a:moveTo>
                  <a:pt x="0" y="0"/>
                </a:moveTo>
                <a:lnTo>
                  <a:pt x="7634584" y="0"/>
                </a:lnTo>
                <a:lnTo>
                  <a:pt x="763458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9789330" y="8133399"/>
            <a:ext cx="1542230" cy="1300906"/>
          </a:xfrm>
          <a:custGeom>
            <a:avLst/>
            <a:gdLst/>
            <a:ahLst/>
            <a:cxnLst/>
            <a:rect r="r" b="b" t="t" l="l"/>
            <a:pathLst>
              <a:path h="1300906" w="1542230">
                <a:moveTo>
                  <a:pt x="0" y="0"/>
                </a:moveTo>
                <a:lnTo>
                  <a:pt x="1542230" y="0"/>
                </a:lnTo>
                <a:lnTo>
                  <a:pt x="154223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11451447" y="8680778"/>
            <a:ext cx="4106073" cy="31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spc="-74" b="true">
                <a:solidFill>
                  <a:srgbClr val="00A4F1"/>
                </a:solidFill>
                <a:latin typeface="Roboto Bold"/>
                <a:ea typeface="Roboto Bold"/>
                <a:cs typeface="Roboto Bold"/>
                <a:sym typeface="Roboto Bold"/>
              </a:rPr>
              <a:t>Compare </a:t>
            </a:r>
            <a:r>
              <a:rPr lang="en-US" sz="2487" spc="-7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and analyse results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976201" y="2285512"/>
            <a:ext cx="4290858" cy="34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b="true" sz="2623" spc="-78">
                <a:solidFill>
                  <a:srgbClr val="00A4F1"/>
                </a:solidFill>
                <a:latin typeface="Roboto Bold"/>
                <a:ea typeface="Roboto Bold"/>
                <a:cs typeface="Roboto Bold"/>
                <a:sym typeface="Roboto Bold"/>
              </a:rPr>
              <a:t>EVALUATION WORKFLOW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413671" y="4527947"/>
            <a:ext cx="523541" cy="49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b="true" sz="3755" spc="-111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413671" y="8609435"/>
            <a:ext cx="523541" cy="49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b="true" sz="3755" spc="-111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05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90953" y="1019806"/>
            <a:ext cx="6629705" cy="1037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2"/>
              </a:lnSpc>
            </a:pPr>
            <a:r>
              <a:rPr lang="en-US" sz="7822" spc="-313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Scoring Rubric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2142670"/>
            <a:ext cx="2843828" cy="218640"/>
          </a:xfrm>
          <a:custGeom>
            <a:avLst/>
            <a:gdLst/>
            <a:ahLst/>
            <a:cxnLst/>
            <a:rect r="r" b="b" t="t" l="l"/>
            <a:pathLst>
              <a:path h="218640" w="2843828">
                <a:moveTo>
                  <a:pt x="0" y="0"/>
                </a:moveTo>
                <a:lnTo>
                  <a:pt x="2843828" y="0"/>
                </a:lnTo>
                <a:lnTo>
                  <a:pt x="2843828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5330" y="2776725"/>
            <a:ext cx="9811206" cy="1519546"/>
          </a:xfrm>
          <a:custGeom>
            <a:avLst/>
            <a:gdLst/>
            <a:ahLst/>
            <a:cxnLst/>
            <a:rect r="r" b="b" t="t" l="l"/>
            <a:pathLst>
              <a:path h="1519546" w="9811206">
                <a:moveTo>
                  <a:pt x="0" y="0"/>
                </a:moveTo>
                <a:lnTo>
                  <a:pt x="9811206" y="0"/>
                </a:lnTo>
                <a:lnTo>
                  <a:pt x="9811206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5330" y="2776725"/>
            <a:ext cx="448450" cy="1519546"/>
          </a:xfrm>
          <a:custGeom>
            <a:avLst/>
            <a:gdLst/>
            <a:ahLst/>
            <a:cxnLst/>
            <a:rect r="r" b="b" t="t" l="l"/>
            <a:pathLst>
              <a:path h="1519546" w="448450">
                <a:moveTo>
                  <a:pt x="0" y="0"/>
                </a:moveTo>
                <a:lnTo>
                  <a:pt x="448450" y="0"/>
                </a:lnTo>
                <a:lnTo>
                  <a:pt x="448450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67850" y="3041874"/>
            <a:ext cx="2518116" cy="45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8"/>
              </a:lnSpc>
            </a:pPr>
            <a:r>
              <a:rPr lang="en-US" sz="3478" spc="-69" b="true">
                <a:solidFill>
                  <a:srgbClr val="8C46E6"/>
                </a:solidFill>
                <a:latin typeface="Roboto Bold"/>
                <a:ea typeface="Roboto Bold"/>
                <a:cs typeface="Roboto Bold"/>
                <a:sym typeface="Roboto Bold"/>
              </a:rPr>
              <a:t>Correctness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80782" y="3562627"/>
            <a:ext cx="1224963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accuracy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050220" y="2995365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45330" y="4285339"/>
            <a:ext cx="9811206" cy="1508614"/>
          </a:xfrm>
          <a:custGeom>
            <a:avLst/>
            <a:gdLst/>
            <a:ahLst/>
            <a:cxnLst/>
            <a:rect r="r" b="b" t="t" l="l"/>
            <a:pathLst>
              <a:path h="1508614" w="9811206">
                <a:moveTo>
                  <a:pt x="0" y="0"/>
                </a:moveTo>
                <a:lnTo>
                  <a:pt x="9811206" y="0"/>
                </a:lnTo>
                <a:lnTo>
                  <a:pt x="981120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45330" y="4285339"/>
            <a:ext cx="448450" cy="1508614"/>
          </a:xfrm>
          <a:custGeom>
            <a:avLst/>
            <a:gdLst/>
            <a:ahLst/>
            <a:cxnLst/>
            <a:rect r="r" b="b" t="t" l="l"/>
            <a:pathLst>
              <a:path h="1508614" w="448450">
                <a:moveTo>
                  <a:pt x="0" y="0"/>
                </a:moveTo>
                <a:lnTo>
                  <a:pt x="448450" y="0"/>
                </a:lnTo>
                <a:lnTo>
                  <a:pt x="44845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50074" y="4638323"/>
            <a:ext cx="4295763" cy="45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8"/>
              </a:lnSpc>
            </a:pPr>
            <a:r>
              <a:rPr lang="en-US" sz="3478" spc="-69" b="true">
                <a:solidFill>
                  <a:srgbClr val="00ADFF"/>
                </a:solidFill>
                <a:latin typeface="Roboto Bold"/>
                <a:ea typeface="Roboto Bold"/>
                <a:cs typeface="Roboto Bold"/>
                <a:sym typeface="Roboto Bold"/>
              </a:rPr>
              <a:t>Instruction Following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9392" y="5174137"/>
            <a:ext cx="2363943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obeys the prompt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050220" y="4493047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45330" y="5783021"/>
            <a:ext cx="9811206" cy="1727254"/>
          </a:xfrm>
          <a:custGeom>
            <a:avLst/>
            <a:gdLst/>
            <a:ahLst/>
            <a:cxnLst/>
            <a:rect r="r" b="b" t="t" l="l"/>
            <a:pathLst>
              <a:path h="1727254" w="9811206">
                <a:moveTo>
                  <a:pt x="0" y="0"/>
                </a:moveTo>
                <a:lnTo>
                  <a:pt x="9811206" y="0"/>
                </a:lnTo>
                <a:lnTo>
                  <a:pt x="981120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45330" y="5783021"/>
            <a:ext cx="448450" cy="1727254"/>
          </a:xfrm>
          <a:custGeom>
            <a:avLst/>
            <a:gdLst/>
            <a:ahLst/>
            <a:cxnLst/>
            <a:rect r="r" b="b" t="t" l="l"/>
            <a:pathLst>
              <a:path h="1727254" w="448450">
                <a:moveTo>
                  <a:pt x="0" y="0"/>
                </a:moveTo>
                <a:lnTo>
                  <a:pt x="448450" y="0"/>
                </a:lnTo>
                <a:lnTo>
                  <a:pt x="44845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79514" y="6234772"/>
            <a:ext cx="1351698" cy="45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8"/>
              </a:lnSpc>
            </a:pPr>
            <a:r>
              <a:rPr lang="en-US" sz="3478" spc="-69" b="true">
                <a:solidFill>
                  <a:srgbClr val="8C46E6"/>
                </a:solidFill>
                <a:latin typeface="Roboto Bold"/>
                <a:ea typeface="Roboto Bold"/>
                <a:cs typeface="Roboto Bold"/>
                <a:sym typeface="Roboto Bold"/>
              </a:rPr>
              <a:t>Clarity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050220" y="5990729"/>
            <a:ext cx="229694" cy="1300906"/>
          </a:xfrm>
          <a:custGeom>
            <a:avLst/>
            <a:gdLst/>
            <a:ahLst/>
            <a:cxnLst/>
            <a:rect r="r" b="b" t="t" l="l"/>
            <a:pathLst>
              <a:path h="1300906" w="229694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45330" y="7499343"/>
            <a:ext cx="9811206" cy="1716322"/>
          </a:xfrm>
          <a:custGeom>
            <a:avLst/>
            <a:gdLst/>
            <a:ahLst/>
            <a:cxnLst/>
            <a:rect r="r" b="b" t="t" l="l"/>
            <a:pathLst>
              <a:path h="1716322" w="9811206">
                <a:moveTo>
                  <a:pt x="0" y="0"/>
                </a:moveTo>
                <a:lnTo>
                  <a:pt x="9811206" y="0"/>
                </a:lnTo>
                <a:lnTo>
                  <a:pt x="9811206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45330" y="7499343"/>
            <a:ext cx="448450" cy="1716322"/>
          </a:xfrm>
          <a:custGeom>
            <a:avLst/>
            <a:gdLst/>
            <a:ahLst/>
            <a:cxnLst/>
            <a:rect r="r" b="b" t="t" l="l"/>
            <a:pathLst>
              <a:path h="1716322" w="448450">
                <a:moveTo>
                  <a:pt x="0" y="0"/>
                </a:moveTo>
                <a:lnTo>
                  <a:pt x="448450" y="0"/>
                </a:lnTo>
                <a:lnTo>
                  <a:pt x="448450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76123" y="7740856"/>
            <a:ext cx="1690833" cy="45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8"/>
              </a:lnSpc>
            </a:pPr>
            <a:r>
              <a:rPr lang="en-US" sz="3478" spc="-69" b="true">
                <a:solidFill>
                  <a:srgbClr val="00ADFF"/>
                </a:solidFill>
                <a:latin typeface="Roboto Bold"/>
                <a:ea typeface="Roboto Bold"/>
                <a:cs typeface="Roboto Bold"/>
                <a:sym typeface="Roboto Bold"/>
              </a:rPr>
              <a:t>Honesty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51312" y="8231488"/>
            <a:ext cx="4171961" cy="687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avoids unsupported claims and handles uncertainty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8050220" y="7707051"/>
            <a:ext cx="229694" cy="1300906"/>
          </a:xfrm>
          <a:custGeom>
            <a:avLst/>
            <a:gdLst/>
            <a:ahLst/>
            <a:cxnLst/>
            <a:rect r="r" b="b" t="t" l="l"/>
            <a:pathLst>
              <a:path h="1300906" w="229694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8697541" y="3016522"/>
            <a:ext cx="890418" cy="63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4"/>
              </a:lnSpc>
            </a:pPr>
            <a:r>
              <a:rPr lang="en-US" sz="4724" spc="-94" b="true">
                <a:solidFill>
                  <a:srgbClr val="8C46E6"/>
                </a:solidFill>
                <a:latin typeface="Roboto Bold"/>
                <a:ea typeface="Roboto Bold"/>
                <a:cs typeface="Roboto Bold"/>
                <a:sym typeface="Roboto Bold"/>
              </a:rPr>
              <a:t>1-5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697139" y="3580800"/>
            <a:ext cx="930638" cy="37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 spc="-55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points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697541" y="4612971"/>
            <a:ext cx="890418" cy="63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4"/>
              </a:lnSpc>
            </a:pPr>
            <a:r>
              <a:rPr lang="en-US" sz="4724" spc="-94" b="true">
                <a:solidFill>
                  <a:srgbClr val="00ADFF"/>
                </a:solidFill>
                <a:latin typeface="Roboto Bold"/>
                <a:ea typeface="Roboto Bold"/>
                <a:cs typeface="Roboto Bold"/>
                <a:sym typeface="Roboto Bold"/>
              </a:rPr>
              <a:t>1-5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697139" y="5162188"/>
            <a:ext cx="930638" cy="37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 spc="-55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points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697541" y="6194359"/>
            <a:ext cx="890418" cy="63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4"/>
              </a:lnSpc>
            </a:pPr>
            <a:r>
              <a:rPr lang="en-US" sz="4724" spc="-94" b="true">
                <a:solidFill>
                  <a:srgbClr val="8C46E6"/>
                </a:solidFill>
                <a:latin typeface="Roboto Bold"/>
                <a:ea typeface="Roboto Bold"/>
                <a:cs typeface="Roboto Bold"/>
                <a:sym typeface="Roboto Bold"/>
              </a:rPr>
              <a:t>1-5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697139" y="6758637"/>
            <a:ext cx="930638" cy="37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 spc="-55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points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697541" y="7851052"/>
            <a:ext cx="890418" cy="63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4"/>
              </a:lnSpc>
            </a:pPr>
            <a:r>
              <a:rPr lang="en-US" sz="4724" spc="-94" b="true">
                <a:solidFill>
                  <a:srgbClr val="00ADFF"/>
                </a:solidFill>
                <a:latin typeface="Roboto Bold"/>
                <a:ea typeface="Roboto Bold"/>
                <a:cs typeface="Roboto Bold"/>
                <a:sym typeface="Roboto Bold"/>
              </a:rPr>
              <a:t>1-5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697139" y="8400269"/>
            <a:ext cx="930638" cy="37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 spc="-55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points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0445598" y="1279043"/>
            <a:ext cx="6540804" cy="7302567"/>
          </a:xfrm>
          <a:custGeom>
            <a:avLst/>
            <a:gdLst/>
            <a:ahLst/>
            <a:cxnLst/>
            <a:rect r="r" b="b" t="t" l="l"/>
            <a:pathLst>
              <a:path h="7302567" w="6540804">
                <a:moveTo>
                  <a:pt x="0" y="0"/>
                </a:moveTo>
                <a:lnTo>
                  <a:pt x="6540804" y="0"/>
                </a:lnTo>
                <a:lnTo>
                  <a:pt x="6540804" y="7302567"/>
                </a:lnTo>
                <a:lnTo>
                  <a:pt x="0" y="730256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2121966" y="3233189"/>
            <a:ext cx="3080912" cy="470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7"/>
              </a:lnSpc>
            </a:pPr>
            <a:r>
              <a:rPr lang="en-US" sz="3577" spc="-71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Maximum Total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030902" y="3919394"/>
            <a:ext cx="3263039" cy="312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40"/>
              </a:lnSpc>
            </a:pPr>
            <a:r>
              <a:rPr lang="en-US" b="true" sz="23440" spc="-698">
                <a:solidFill>
                  <a:srgbClr val="00ADFF"/>
                </a:solidFill>
                <a:latin typeface="Roboto Bold"/>
                <a:ea typeface="Roboto Bold"/>
                <a:cs typeface="Roboto Bold"/>
                <a:sym typeface="Roboto Bold"/>
              </a:rPr>
              <a:t>20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917766" y="6812468"/>
            <a:ext cx="1489313" cy="588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4"/>
              </a:lnSpc>
            </a:pPr>
            <a:r>
              <a:rPr lang="en-US" sz="4394" spc="-87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points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47379" y="6755525"/>
            <a:ext cx="4565260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easy to understand and organised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70574" y="0"/>
            <a:ext cx="8717426" cy="4077631"/>
          </a:xfrm>
          <a:custGeom>
            <a:avLst/>
            <a:gdLst/>
            <a:ahLst/>
            <a:cxnLst/>
            <a:rect r="r" b="b" t="t" l="l"/>
            <a:pathLst>
              <a:path h="4077631" w="8717426">
                <a:moveTo>
                  <a:pt x="0" y="0"/>
                </a:moveTo>
                <a:lnTo>
                  <a:pt x="8717426" y="0"/>
                </a:lnTo>
                <a:lnTo>
                  <a:pt x="8717426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82057" y="1170401"/>
            <a:ext cx="12877160" cy="1016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2"/>
              </a:lnSpc>
            </a:pPr>
            <a:r>
              <a:rPr lang="en-US" sz="7682" spc="-307" b="true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Results &amp; Model Comparison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64086" y="2142670"/>
            <a:ext cx="2625072" cy="437279"/>
          </a:xfrm>
          <a:custGeom>
            <a:avLst/>
            <a:gdLst/>
            <a:ahLst/>
            <a:cxnLst/>
            <a:rect r="r" b="b" t="t" l="l"/>
            <a:pathLst>
              <a:path h="437279" w="2625072">
                <a:moveTo>
                  <a:pt x="0" y="0"/>
                </a:moveTo>
                <a:lnTo>
                  <a:pt x="2625072" y="0"/>
                </a:lnTo>
                <a:lnTo>
                  <a:pt x="262507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65500" y="2945133"/>
            <a:ext cx="4532835" cy="90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032" spc="-60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Team-reported total scores</a:t>
            </a:r>
          </a:p>
          <a:p>
            <a:pPr algn="l">
              <a:lnSpc>
                <a:spcPts val="3639"/>
              </a:lnSpc>
            </a:pPr>
            <a:r>
              <a:rPr lang="en-US" sz="3032" spc="-60">
                <a:solidFill>
                  <a:srgbClr val="00A3F8"/>
                </a:solidFill>
                <a:latin typeface="Roboto"/>
                <a:ea typeface="Roboto"/>
                <a:cs typeface="Roboto"/>
                <a:sym typeface="Roboto"/>
              </a:rPr>
              <a:t>out of 20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89138" y="4381008"/>
            <a:ext cx="940077" cy="93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2"/>
              </a:lnSpc>
            </a:pPr>
            <a:r>
              <a:rPr lang="en-US" sz="6892" spc="-275" b="true">
                <a:solidFill>
                  <a:srgbClr val="00A3F8"/>
                </a:solidFill>
                <a:latin typeface="Roboto Bold"/>
                <a:ea typeface="Roboto Bold"/>
                <a:cs typeface="Roboto Bold"/>
                <a:sym typeface="Roboto Bold"/>
              </a:rPr>
              <a:t>20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384440" y="5356674"/>
            <a:ext cx="2187560" cy="2787657"/>
          </a:xfrm>
          <a:custGeom>
            <a:avLst/>
            <a:gdLst/>
            <a:ahLst/>
            <a:cxnLst/>
            <a:rect r="r" b="b" t="t" l="l"/>
            <a:pathLst>
              <a:path h="2787657" w="2187560">
                <a:moveTo>
                  <a:pt x="0" y="0"/>
                </a:moveTo>
                <a:lnTo>
                  <a:pt x="2187560" y="0"/>
                </a:lnTo>
                <a:lnTo>
                  <a:pt x="2187560" y="2787656"/>
                </a:lnTo>
                <a:lnTo>
                  <a:pt x="0" y="27876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443239" y="8412218"/>
            <a:ext cx="2135466" cy="384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 spc="-51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GPT-OSS-20B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01598" y="7925691"/>
            <a:ext cx="15466048" cy="437279"/>
          </a:xfrm>
          <a:custGeom>
            <a:avLst/>
            <a:gdLst/>
            <a:ahLst/>
            <a:cxnLst/>
            <a:rect r="r" b="b" t="t" l="l"/>
            <a:pathLst>
              <a:path h="437279" w="15466048">
                <a:moveTo>
                  <a:pt x="0" y="0"/>
                </a:moveTo>
                <a:lnTo>
                  <a:pt x="15466048" y="0"/>
                </a:lnTo>
                <a:lnTo>
                  <a:pt x="1546604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473552" y="4501495"/>
            <a:ext cx="940077" cy="93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2"/>
              </a:lnSpc>
            </a:pPr>
            <a:r>
              <a:rPr lang="en-US" sz="6892" spc="-275" b="true">
                <a:solidFill>
                  <a:srgbClr val="8C46F8"/>
                </a:solidFill>
                <a:latin typeface="Roboto Bold"/>
                <a:ea typeface="Roboto Bold"/>
                <a:cs typeface="Roboto Bold"/>
                <a:sym typeface="Roboto Bold"/>
              </a:rPr>
              <a:t>19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61276" y="4846232"/>
            <a:ext cx="571604" cy="42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9"/>
              </a:lnSpc>
            </a:pPr>
            <a:r>
              <a:rPr lang="en-US" sz="3179" spc="-127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/20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092354" y="5356674"/>
            <a:ext cx="2406316" cy="2787657"/>
          </a:xfrm>
          <a:custGeom>
            <a:avLst/>
            <a:gdLst/>
            <a:ahLst/>
            <a:cxnLst/>
            <a:rect r="r" b="b" t="t" l="l"/>
            <a:pathLst>
              <a:path h="2787657" w="2406316">
                <a:moveTo>
                  <a:pt x="0" y="0"/>
                </a:moveTo>
                <a:lnTo>
                  <a:pt x="2406316" y="0"/>
                </a:lnTo>
                <a:lnTo>
                  <a:pt x="2406316" y="2787656"/>
                </a:lnTo>
                <a:lnTo>
                  <a:pt x="0" y="27876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245496" y="8412218"/>
            <a:ext cx="2314506" cy="384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 spc="-51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GPT-OSS-120B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16865" y="4411130"/>
            <a:ext cx="940077" cy="93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2"/>
              </a:lnSpc>
            </a:pPr>
            <a:r>
              <a:rPr lang="en-US" sz="6892" spc="-275" b="true">
                <a:solidFill>
                  <a:srgbClr val="00A3F8"/>
                </a:solidFill>
                <a:latin typeface="Roboto Bold"/>
                <a:ea typeface="Roboto Bold"/>
                <a:cs typeface="Roboto Bold"/>
                <a:sym typeface="Roboto Bold"/>
              </a:rPr>
              <a:t>20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789330" y="5138034"/>
            <a:ext cx="2406316" cy="3006296"/>
          </a:xfrm>
          <a:custGeom>
            <a:avLst/>
            <a:gdLst/>
            <a:ahLst/>
            <a:cxnLst/>
            <a:rect r="r" b="b" t="t" l="l"/>
            <a:pathLst>
              <a:path h="3006296" w="2406316">
                <a:moveTo>
                  <a:pt x="0" y="0"/>
                </a:moveTo>
                <a:lnTo>
                  <a:pt x="2406316" y="0"/>
                </a:lnTo>
                <a:lnTo>
                  <a:pt x="2406316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806537" y="8412218"/>
            <a:ext cx="2504898" cy="384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 spc="-51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Gemma-4-31B-IT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679810" y="4456312"/>
            <a:ext cx="940077" cy="93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2"/>
              </a:lnSpc>
            </a:pPr>
            <a:r>
              <a:rPr lang="en-US" sz="6892" spc="-275" b="true">
                <a:solidFill>
                  <a:srgbClr val="00A3F8"/>
                </a:solidFill>
                <a:latin typeface="Roboto Bold"/>
                <a:ea typeface="Roboto Bold"/>
                <a:cs typeface="Roboto Bold"/>
                <a:sym typeface="Roboto Bold"/>
              </a:rPr>
              <a:t>20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594323" y="4801050"/>
            <a:ext cx="571604" cy="42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9"/>
              </a:lnSpc>
            </a:pPr>
            <a:r>
              <a:rPr lang="en-US" sz="3179" spc="-127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/20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3497244" y="5356674"/>
            <a:ext cx="2187560" cy="2787657"/>
          </a:xfrm>
          <a:custGeom>
            <a:avLst/>
            <a:gdLst/>
            <a:ahLst/>
            <a:cxnLst/>
            <a:rect r="r" b="b" t="t" l="l"/>
            <a:pathLst>
              <a:path h="2787657" w="2187560">
                <a:moveTo>
                  <a:pt x="0" y="0"/>
                </a:moveTo>
                <a:lnTo>
                  <a:pt x="2187560" y="0"/>
                </a:lnTo>
                <a:lnTo>
                  <a:pt x="2187560" y="2787656"/>
                </a:lnTo>
                <a:lnTo>
                  <a:pt x="0" y="278765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040855" y="8412218"/>
            <a:ext cx="3220726" cy="384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 spc="-51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Gemma-4-26B-A4B-IT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69519" y="9345990"/>
            <a:ext cx="4130882" cy="295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39" b="true">
                <a:solidFill>
                  <a:srgbClr val="00A3F8"/>
                </a:solidFill>
                <a:latin typeface="Roboto Bold"/>
                <a:ea typeface="Roboto Bold"/>
                <a:cs typeface="Roboto Bold"/>
                <a:sym typeface="Roboto Bold"/>
              </a:rPr>
              <a:t>Source:</a:t>
            </a:r>
            <a:r>
              <a:rPr lang="en-US" sz="1986" spc="-39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 scores reported by the team.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557229" y="4725745"/>
            <a:ext cx="571604" cy="42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9"/>
              </a:lnSpc>
            </a:pPr>
            <a:r>
              <a:rPr lang="en-US" sz="3179" spc="-127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/20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058167" y="4770928"/>
            <a:ext cx="571604" cy="42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9"/>
              </a:lnSpc>
            </a:pPr>
            <a:r>
              <a:rPr lang="en-US" sz="3179" spc="-127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/20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75196" y="1279043"/>
            <a:ext cx="11112804" cy="9007957"/>
          </a:xfrm>
          <a:custGeom>
            <a:avLst/>
            <a:gdLst/>
            <a:ahLst/>
            <a:cxnLst/>
            <a:rect r="r" b="b" t="t" l="l"/>
            <a:pathLst>
              <a:path h="9007957" w="11112804">
                <a:moveTo>
                  <a:pt x="0" y="0"/>
                </a:moveTo>
                <a:lnTo>
                  <a:pt x="11112804" y="0"/>
                </a:lnTo>
                <a:lnTo>
                  <a:pt x="11112804" y="9007957"/>
                </a:lnTo>
                <a:lnTo>
                  <a:pt x="0" y="90079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90667" y="866454"/>
            <a:ext cx="6658297" cy="2215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70"/>
              </a:lnSpc>
            </a:pPr>
            <a:r>
              <a:rPr lang="en-US" sz="8101" spc="-324" b="true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Conclusion,</a:t>
            </a:r>
          </a:p>
          <a:p>
            <a:pPr algn="l">
              <a:lnSpc>
                <a:spcPts val="8670"/>
              </a:lnSpc>
            </a:pPr>
            <a:r>
              <a:rPr lang="en-US" sz="8101" spc="-324" b="true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Team &amp; GitHub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3214004"/>
            <a:ext cx="2843828" cy="437279"/>
          </a:xfrm>
          <a:custGeom>
            <a:avLst/>
            <a:gdLst/>
            <a:ahLst/>
            <a:cxnLst/>
            <a:rect r="r" b="b" t="t" l="l"/>
            <a:pathLst>
              <a:path h="437279" w="2843828">
                <a:moveTo>
                  <a:pt x="0" y="0"/>
                </a:moveTo>
                <a:lnTo>
                  <a:pt x="2843828" y="0"/>
                </a:lnTo>
                <a:lnTo>
                  <a:pt x="2843828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00961" y="3972148"/>
            <a:ext cx="5628935" cy="99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spc="-57">
                <a:solidFill>
                  <a:srgbClr val="F8F8F2"/>
                </a:solidFill>
                <a:latin typeface="Roboto"/>
                <a:ea typeface="Roboto"/>
                <a:cs typeface="Roboto"/>
                <a:sym typeface="Roboto"/>
              </a:rPr>
              <a:t>Three models scored </a:t>
            </a:r>
            <a:r>
              <a:rPr lang="en-US" sz="2896" spc="-57" b="true">
                <a:solidFill>
                  <a:srgbClr val="00A1E8"/>
                </a:solidFill>
                <a:latin typeface="Roboto Bold"/>
                <a:ea typeface="Roboto Bold"/>
                <a:cs typeface="Roboto Bold"/>
                <a:sym typeface="Roboto Bold"/>
              </a:rPr>
              <a:t>20/20</a:t>
            </a:r>
            <a:r>
              <a:rPr lang="en-US" sz="2896" spc="-57">
                <a:solidFill>
                  <a:srgbClr val="F8F8F2"/>
                </a:solidFill>
                <a:latin typeface="Roboto"/>
                <a:ea typeface="Roboto"/>
                <a:cs typeface="Roboto"/>
                <a:sym typeface="Roboto"/>
              </a:rPr>
              <a:t>;</a:t>
            </a:r>
          </a:p>
          <a:p>
            <a:pPr algn="l">
              <a:lnSpc>
                <a:spcPts val="4054"/>
              </a:lnSpc>
            </a:pPr>
            <a:r>
              <a:rPr lang="en-US" sz="2896" spc="-57">
                <a:solidFill>
                  <a:srgbClr val="F8F8F2"/>
                </a:solidFill>
                <a:latin typeface="Roboto"/>
                <a:ea typeface="Roboto"/>
                <a:cs typeface="Roboto"/>
                <a:sym typeface="Roboto"/>
              </a:rPr>
              <a:t>one scored </a:t>
            </a:r>
            <a:r>
              <a:rPr lang="en-US" sz="2896" spc="-57" b="true">
                <a:solidFill>
                  <a:srgbClr val="8F39D6"/>
                </a:solidFill>
                <a:latin typeface="Roboto Bold"/>
                <a:ea typeface="Roboto Bold"/>
                <a:cs typeface="Roboto Bold"/>
                <a:sym typeface="Roboto Bold"/>
              </a:rPr>
              <a:t>19/20</a:t>
            </a:r>
            <a:r>
              <a:rPr lang="en-US" sz="2896" spc="-57">
                <a:solidFill>
                  <a:srgbClr val="F8F8F2"/>
                </a:solidFill>
                <a:latin typeface="Roboto"/>
                <a:ea typeface="Roboto"/>
                <a:cs typeface="Roboto"/>
                <a:sym typeface="Roboto"/>
              </a:rPr>
              <a:t> in our evaluation.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5330" y="5138034"/>
            <a:ext cx="7853340" cy="229572"/>
          </a:xfrm>
          <a:custGeom>
            <a:avLst/>
            <a:gdLst/>
            <a:ahLst/>
            <a:cxnLst/>
            <a:rect r="r" b="b" t="t" l="l"/>
            <a:pathLst>
              <a:path h="229572" w="7853340">
                <a:moveTo>
                  <a:pt x="0" y="0"/>
                </a:moveTo>
                <a:lnTo>
                  <a:pt x="7853340" y="0"/>
                </a:lnTo>
                <a:lnTo>
                  <a:pt x="785334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05635" y="5628594"/>
            <a:ext cx="5161502" cy="893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5"/>
              </a:lnSpc>
            </a:pPr>
            <a:r>
              <a:rPr lang="en-US" sz="2575" spc="-51">
                <a:solidFill>
                  <a:srgbClr val="F8F8F2"/>
                </a:solidFill>
                <a:latin typeface="Roboto"/>
                <a:ea typeface="Roboto"/>
                <a:cs typeface="Roboto"/>
                <a:sym typeface="Roboto"/>
              </a:rPr>
              <a:t>Results depend on prompt selection</a:t>
            </a:r>
          </a:p>
          <a:p>
            <a:pPr algn="l">
              <a:lnSpc>
                <a:spcPts val="3605"/>
              </a:lnSpc>
            </a:pPr>
            <a:r>
              <a:rPr lang="en-US" sz="2575" spc="-51">
                <a:solidFill>
                  <a:srgbClr val="F8F8F2"/>
                </a:solidFill>
                <a:latin typeface="Roboto"/>
                <a:ea typeface="Roboto"/>
                <a:cs typeface="Roboto"/>
                <a:sym typeface="Roboto"/>
              </a:rPr>
              <a:t>and reviewer judgments.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5330" y="6854356"/>
            <a:ext cx="6540804" cy="218640"/>
          </a:xfrm>
          <a:custGeom>
            <a:avLst/>
            <a:gdLst/>
            <a:ahLst/>
            <a:cxnLst/>
            <a:rect r="r" b="b" t="t" l="l"/>
            <a:pathLst>
              <a:path h="218640" w="6540804">
                <a:moveTo>
                  <a:pt x="0" y="0"/>
                </a:moveTo>
                <a:lnTo>
                  <a:pt x="6540804" y="0"/>
                </a:lnTo>
                <a:lnTo>
                  <a:pt x="654080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47038" y="7179653"/>
            <a:ext cx="1021181" cy="478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59" spc="-55" b="true">
                <a:solidFill>
                  <a:srgbClr val="8F39D6"/>
                </a:solidFill>
                <a:latin typeface="Roboto Bold"/>
                <a:ea typeface="Roboto Bold"/>
                <a:cs typeface="Roboto Bold"/>
                <a:sym typeface="Roboto Bold"/>
              </a:rPr>
              <a:t>Team: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7363" y="7646539"/>
            <a:ext cx="4988662" cy="478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59" spc="-55">
                <a:solidFill>
                  <a:srgbClr val="F8F8F2"/>
                </a:solidFill>
                <a:latin typeface="Roboto"/>
                <a:ea typeface="Roboto"/>
                <a:cs typeface="Roboto"/>
                <a:sym typeface="Roboto"/>
              </a:rPr>
              <a:t>Syed Arfaz, Prajwal B, Pavan BS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45330" y="8352038"/>
            <a:ext cx="5676718" cy="229572"/>
          </a:xfrm>
          <a:custGeom>
            <a:avLst/>
            <a:gdLst/>
            <a:ahLst/>
            <a:cxnLst/>
            <a:rect r="r" b="b" t="t" l="l"/>
            <a:pathLst>
              <a:path h="229572" w="5676718">
                <a:moveTo>
                  <a:pt x="0" y="0"/>
                </a:moveTo>
                <a:lnTo>
                  <a:pt x="5676718" y="0"/>
                </a:lnTo>
                <a:lnTo>
                  <a:pt x="567671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14188" y="8731127"/>
            <a:ext cx="4306209" cy="447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5"/>
              </a:lnSpc>
            </a:pPr>
            <a:r>
              <a:rPr lang="en-US" sz="2575" spc="-51" b="true">
                <a:solidFill>
                  <a:srgbClr val="00A1E8"/>
                </a:solidFill>
                <a:latin typeface="Roboto Bold"/>
                <a:ea typeface="Roboto Bold"/>
                <a:cs typeface="Roboto Bold"/>
                <a:sym typeface="Roboto Bold"/>
              </a:rPr>
              <a:t>View Our Project on GitHub: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9836" y="9177177"/>
            <a:ext cx="9741403" cy="40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7"/>
              </a:lnSpc>
            </a:pPr>
            <a:r>
              <a:rPr lang="en-US" sz="2355" spc="-47">
                <a:solidFill>
                  <a:srgbClr val="F8F8F2"/>
                </a:solidFill>
                <a:latin typeface="Roboto"/>
                <a:ea typeface="Roboto"/>
                <a:cs typeface="Roboto"/>
                <a:sym typeface="Roboto"/>
              </a:rPr>
              <a:t>https://github.com/prajwalprajju1017-jpg/open-model-evaluation/tree/main</a:t>
            </a:r>
          </a:p>
        </p:txBody>
      </p:sp>
      <p:sp>
        <p:nvSpPr>
          <p:cNvPr name="TextBox 15" id="15"/>
          <p:cNvSpPr txBox="true"/>
          <p:nvPr/>
        </p:nvSpPr>
        <p:spPr>
          <a:xfrm rot="379687">
            <a:off x="11350227" y="3110229"/>
            <a:ext cx="2753205" cy="1126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70"/>
              </a:lnSpc>
            </a:pPr>
            <a:r>
              <a:rPr lang="en-US" b="true" sz="8101" spc="-324">
                <a:solidFill>
                  <a:srgbClr val="0066F6"/>
                </a:solidFill>
                <a:latin typeface="Roboto Bold"/>
                <a:ea typeface="Roboto Bold"/>
                <a:cs typeface="Roboto Bold"/>
                <a:sym typeface="Roboto Bold"/>
              </a:rPr>
              <a:t>Thank</a:t>
            </a:r>
          </a:p>
        </p:txBody>
      </p:sp>
      <p:sp>
        <p:nvSpPr>
          <p:cNvPr name="TextBox 16" id="16"/>
          <p:cNvSpPr txBox="true"/>
          <p:nvPr/>
        </p:nvSpPr>
        <p:spPr>
          <a:xfrm rot="379687">
            <a:off x="14182621" y="3275697"/>
            <a:ext cx="1796282" cy="1187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18"/>
              </a:lnSpc>
            </a:pPr>
            <a:r>
              <a:rPr lang="en-US" b="true" sz="8519" spc="-341">
                <a:solidFill>
                  <a:srgbClr val="6C39F8"/>
                </a:solidFill>
                <a:latin typeface="Roboto Bold"/>
                <a:ea typeface="Roboto Bold"/>
                <a:cs typeface="Roboto Bold"/>
                <a:sym typeface="Roboto Bold"/>
              </a:rPr>
              <a:t>You</a:t>
            </a:r>
          </a:p>
        </p:txBody>
      </p:sp>
      <p:sp>
        <p:nvSpPr>
          <p:cNvPr name="TextBox 17" id="17"/>
          <p:cNvSpPr txBox="true"/>
          <p:nvPr/>
        </p:nvSpPr>
        <p:spPr>
          <a:xfrm rot="379687">
            <a:off x="12848261" y="4472934"/>
            <a:ext cx="1260994" cy="704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2"/>
              </a:lnSpc>
            </a:pPr>
            <a:r>
              <a:rPr lang="en-US" b="true" sz="5075" spc="-203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DAHY6gr1uBc</dc:identifier>
  <dcterms:modified xsi:type="dcterms:W3CDTF">2011-08-01T06:04:30Z</dcterms:modified>
  <cp:revision>1</cp:revision>
  <dc:title>Open-Weight AI Study</dc:title>
</cp:coreProperties>
</file>